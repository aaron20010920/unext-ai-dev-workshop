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開場就把終點講出來：今天走出這個房間，你有一個網址。不是投影片、不是截圖。</a:t>
            </a:r>
          </a:p>
          <a:p>
            <a:r>
              <a:t>右下角那個 QR 現在就叫他們掃 —— 掃進去按 Fork，今天所有東西都在裡面。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四格帶過，不要念履歷。</a:t>
            </a:r>
          </a:p>
          <a:p>
            <a:r>
              <a:t>產業那行是重點：他們即將進不同的公司，看到「同一套方法用在八個不同產業」比聽我做過什麼產品有用。</a:t>
            </a:r>
          </a:p>
          <a:p>
            <a:r>
              <a:t>要講的只有一句：我不是因為很會寫 code 才做得出 AI 產品，是因為我知道要做什麼。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帶做，不是唸清單。我在台上做一次，他們跟一次，大約 10 分鐘。</a:t>
            </a:r>
          </a:p>
          <a:p>
            <a:r>
              <a:t>順序：① GitHub 帳號 ② ChatGPT 桌面版按下載（要幾分鐘，讓它在背景跑）③ Groq key：console.groq.com → API Keys → Create API Key，產完先貼到自己的記事本。</a:t>
            </a:r>
          </a:p>
          <a:p>
            <a:r>
              <a:t>然後翻下一頁，剩下的四個 CLI 全部交給 Codex 裝 —— 這就是上週那件事的延伸：以前要工程師開終端機打指令，現在你講中文。</a:t>
            </a:r>
          </a:p>
          <a:p>
            <a:r>
              <a:t>額度那個數字要講對：llama-3.3-70b-versatile 是 1,000 次／天（上週實測 x-ratelimit 標頭），坊間說的 14,400 是小模型的，不是這顆。</a:t>
            </a:r>
          </a:p>
          <a:p>
            <a:r>
              <a:t>⚠️ 14:30-15:00 全國網路降速演習，那半小時不要指望下載—— 這就是為什麼現在裝。</a:t>
            </a:r>
          </a:p>
          <a:p>
            <a:r>
              <a:t>公司筆電鎖權限裝不了的人舉手，我給他 Vercel Drop 那條路。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為什麼用桌面版而不是網頁版：桌面版看得到、也改得動你本機的檔案，</a:t>
            </a:r>
          </a:p>
          <a:p>
            <a:r>
              <a:t>所以流程是「它改 → 你看 → 接受」，不用把 code 複製來複製去。</a:t>
            </a:r>
          </a:p>
          <a:p>
            <a:r>
              <a:t>額度要老實講：免費約 10 次／天，反覆試錯很容易用完。有 Plus 的人會順很多，但不要讓沒付費的人覺得今天做不完—— Plan B（普通對話 + 貼回 GitHub 網頁編輯）是真的可行。</a:t>
            </a:r>
          </a:p>
          <a:p>
            <a:r>
              <a:t>⚠️ 講完這頁直接翻下一頁貼 Prompt 0，不要停 —— 裝機要最早開始跑。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這頁的意義不只是省事：它讓「你不必會終端機」在開場第一分鐘就被證明一次。</a:t>
            </a:r>
          </a:p>
          <a:p>
            <a:r>
              <a:t>我在台上貼一次給他們看，Codex 會逐步回報它要做什麼 —— 叫他們讀它的回報，不要無腦按同意，這就是今天一直要練的驗收。</a:t>
            </a:r>
          </a:p>
          <a:p>
            <a:r>
              <a:t>⚠️ 兩件事 Codex 幫不了：帳號要自己註冊、ChatGPT 桌面版要自己裝（Codex 就住在裡面）。所以那兩件才是上一頁的內容。</a:t>
            </a:r>
          </a:p>
          <a:p>
            <a:r>
              <a:t>全文在 repo 的 docs/02-prompts.md（Prompt 0），叫他們去複製，不要照打。</a:t>
            </a:r>
          </a:p>
          <a:p>
            <a:r>
              <a:t>公司筆電擋 npm 全域安裝的人，等一下走 Vercel Drop。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這裡真的打開一個做好的範例網站，現場輸入東西、AI 回話。先讓他們看到終點，後面所有步驟才有意義。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這四個字今天會一直出現，所以先講完，後面就不用停下來解釋。</a:t>
            </a:r>
          </a:p>
          <a:p>
            <a:r>
              <a:t>重點不是要他們懂 git，是要他們知道「東西放在哪、AI 改的東西為什麼要我按同意」。</a:t>
            </a:r>
          </a:p>
          <a:p>
            <a:r>
              <a:t>講 PR 的時候強調：這就是你的驗收關卡 —— AI 沒有權限直接改你的東西。</a:t>
            </a:r>
          </a:p>
          <a:p>
            <a:r>
              <a:t>當場帶他們 fork，確認每個人都拿到自己那一份再往下走。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差別不是「更聰明」，是它會自己動手，不用你貼來貼去。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這一頁是全場的軸。</a:t>
            </a:r>
          </a:p>
          <a:p>
            <a:r>
              <a:t>左邊那三個問題，AI 現在都比你強；右邊那三個，它一個都不會替你回答。</a:t>
            </a:r>
          </a:p>
          <a:p>
            <a:r>
              <a:t>補充講：它實作比你強、速度快一百倍，唯一不知道的是你腦子裡那個東西；而它不會承認自己不知道 —— 它會猜，猜得非常自信、看起來非常對。</a:t>
            </a:r>
          </a:p>
          <a:p>
            <a:r>
              <a:t>今天練的兩件事都是在補這個洞：說清楚、看得出錯。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SDD = Spec-Driven Development。不是新流程狂熱，是接單的那位變了。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這是整個 SDD 的理由。不是流程要求，是接單的那位不會自己補洞。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問對問題本身就是專業。你不會問「誰驗收」「什麼算成功」「你的硬限制是什麼」，但那三題決定東西做不做得出來。讓專業的來問，你只要答得誠實。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不要念全文。現場直接示範跑一次，讓他們看到它真的一題一題問，比看投影片上的字有用。全文在 repo，他們複製。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這張表就是今天要帶走的能力。它產出速度是你一百倍、準確度大概七成，那三成錯的地方長得跟對的一模一樣。看得出來就是你的價值。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巡場只問一句：你今天要帶走的那一塊，是什麼？做完能解決你哪個痛點？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這頁是「不用打指令」這件事的第二次證明（第一次是 Prompt 0 裝環境）。</a:t>
            </a:r>
          </a:p>
          <a:p>
            <a:r>
              <a:t>兩個坑本來各自是一整頁在教：</a:t>
            </a:r>
          </a:p>
          <a:p>
            <a:r>
              <a:t>  · 部署要在 starter-kit 裡跑 —— 站在最外層會部署「成功」、給你網址、打開卻是 404，而且沒有任何錯誤訊息指向原因，比直接失敗更難查</a:t>
            </a:r>
          </a:p>
          <a:p>
            <a:r>
              <a:t>  · 環境變數加完要再部署一次才生效</a:t>
            </a:r>
          </a:p>
          <a:p>
            <a:r>
              <a:t>現在兩條都寫進 prompt 裡讓 Codex 照做。但講的時候還是要點出來，因為它連到今天的主軸：部署成功 ≠ 網站活著，跟「AI 說做好了 ≠ 做對了」是同一件事 —— 差別只是這次換到基礎設施這一層。</a:t>
            </a:r>
          </a:p>
          <a:p>
            <a:r>
              <a:t>全文在 repo 的 docs/02-prompts.md（Prompt 0.5），叫他們複製不要照打。</a:t>
            </a:r>
          </a:p>
          <a:p>
            <a:r>
              <a:t>⚠️ key 貼給 Codex 的時候提醒一句：那串等於密碼，只進 Vercel 的環境變數，不要貼進 GitHub、不要傳給同學。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這一段是今天的核心動作：規格是人寫的，code 是它產的。</a:t>
            </a:r>
          </a:p>
          <a:p>
            <a:r>
              <a:t>「先複述你的理解」那句是保險 —— 讓它在動手前把誤解講出來，</a:t>
            </a:r>
          </a:p>
          <a:p>
            <a:r>
              <a:t>省下的時間比它花的多。現場示範一次它複述錯、被我糾正的樣子最有說服力。</a:t>
            </a:r>
          </a:p>
          <a:p/>
          <a:p>
            <a:r>
              <a:t>看 diff 不是要他們讀 code，是看「它動了哪幾個檔」——</a:t>
            </a:r>
          </a:p>
          <a:p>
            <a:r>
              <a:t>動到你沒要求的檔案就是警訊，那時候退回去重講。</a:t>
            </a:r>
          </a:p>
          <a:p/>
          <a:p>
            <a:r>
              <a:t>額度要老實講：免費約 10 次/天，反覆試錯很容易用完。有 Plus 的人會順很多，但不要讓沒付費的人覺得今天做不完 —— Plan B（普通對話 + 貼回 GitHub）是真的可行。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這頁用來回答「我到底做了什麼」，下一頁才是重點：想法落在哪一層。</a:t>
            </a:r>
          </a:p>
          <a:p>
            <a:r>
              <a:t>講三條線：</a:t>
            </a:r>
          </a:p>
          <a:p>
            <a:r>
              <a:t>① → ② → ③：你在自己電腦上改，push 到 GitHub，Vercel 自動把它跑起來。</a:t>
            </a:r>
          </a:p>
          <a:p>
            <a:r>
              <a:t>③ → ④：使用者按送出，是你的伺服器拿著 key 去問 Groq，不是他的瀏覽器去問。</a:t>
            </a:r>
          </a:p>
          <a:p>
            <a:r>
              <a:t>③ → ⑤：要留下紀錄才需要 Supabase，而 RLS 是擋在 ⑤ 這一層、不是在 ③。</a:t>
            </a:r>
          </a:p>
          <a:p>
            <a:r>
              <a:t>最後那句是重點：橘色的部分壞了你修得動，灰色的只能照它的規則玩 —— 這也是為什麼額度、限流、RLS 這些事你得知道。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這頁是整份 deck 最實用的一頁，因為它回答「我有想法之後第一步做什麼」。</a:t>
            </a:r>
          </a:p>
          <a:p>
            <a:r>
              <a:t>抽象與具體的分工要講清楚，但都用他們的語言講 —— 台下不會有人去打開檔案：</a:t>
            </a:r>
          </a:p>
          <a:p>
            <a:r>
              <a:t>· 具體 = 你說得出「原本長這樣 → 我要它變那樣」。直接講，它自己去找檔案。</a:t>
            </a:r>
          </a:p>
          <a:p>
            <a:r>
              <a:t>· 抽象 = 你只知道想要什麼、不知道要動哪裡。那就問路，讓它告訴你該加什麼。</a:t>
            </a:r>
          </a:p>
          <a:p>
            <a:r>
              <a:t>兩個反過來都會壞：什麼都還沒想清楚就下具體指令 → 你會指錯方向；</a:t>
            </a:r>
          </a:p>
          <a:p>
            <a:r>
              <a:t>一直抽象 → 它到處亂改，而且一個 Codex task 就燒掉了。</a:t>
            </a:r>
          </a:p>
          <a:p>
            <a:r>
              <a:t>現場示範：拿「我要記住上次打什麼」問一次抽象的，看它自己說要加資料庫。</a:t>
            </a:r>
          </a:p>
          <a:p>
            <a:r>
              <a:t>它動完會回報改了哪些檔 —— 那時候看一眼就好，這就是驗收，不是要你讀 code。</a:t>
            </a:r>
          </a:p>
          <a:p>
            <a:r>
              <a:t>口頭再補兩條（版面放不下）：</a:t>
            </a:r>
          </a:p>
          <a:p>
            <a:r>
              <a:t>· 「不想被別人看到我的資料」→ 落在 ⑤ 的 RLS，不是 ① 頁面 —— 頁面擋不住任何人。</a:t>
            </a:r>
          </a:p>
          <a:p>
            <a:r>
              <a:t>· 「我要每天早上自動跑一次」→ 落在 ② GitHub，就是第一堂那個競品監控器。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這是今天唯一的架構觀念，但它真的重要 —— 把 key 放前端是新手最貴的錯。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⛔ 講師紀律：等有人真的被 Codex 改壞了再講這一頁，不要提前預防。</a:t>
            </a:r>
          </a:p>
          <a:p>
            <a:r>
              <a:t>Mollick 的鋸齒邊界只能靠親身撞到 —— 我先講規則，他們記不住；他們自己看到「AI 說改好了但畫面壞了」，這一頁才會生根。</a:t>
            </a:r>
          </a:p>
          <a:p>
            <a:r>
              <a:t>所以巡場看到有人被亂改，不要急著出手救，讓他先看到後果，再回頭指 review 六格跟這兩條紀律。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這頁只要留下一個名字（Supabase）跟一句話（幫我接）。</a:t>
            </a:r>
          </a:p>
          <a:p>
            <a:r>
              <a:t>不要展開比較 Upstash / Neon —— 他們今天用不到，講了只是雜訊，真的要用的時候問 Codex 就好。</a:t>
            </a:r>
          </a:p>
          <a:p>
            <a:r>
              <a:t>RLS 那句是唯一必須從我嘴裡出去的：Supabase 的 anon key 是設計上放前端的，所以擋人的那層叫 RLS，而它預設是關的 —— 沒開等於資料全裸。</a:t>
            </a:r>
          </a:p>
          <a:p>
            <a:r>
              <a:t>⚠️ 我自己要記得：Vercel KV / Vercel Postgres 已下架，別講那兩個名字。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這頁的用途是「命名」，不是教學 —— 他們已經做完了，現在給那些動作正式名稱，帶走時才講得出自己會什麼。</a:t>
            </a:r>
          </a:p>
          <a:p>
            <a:r>
              <a:t>❷ Context：Gartner 2025「context is in, prompt is out」。他們 review 的 SPEC 就是 context。</a:t>
            </a:r>
          </a:p>
          <a:p>
            <a:r>
              <a:t>❸ Harness：用程式框住 AI，不靠它自律。那個 CI 就是。</a:t>
            </a:r>
          </a:p>
          <a:p>
            <a:r>
              <a:t>❹ Loop：Boris Cherny「我不再 prompt AI，loop 在 prompt 它」——告訴他們後面還有路，不是今天就無敵了。</a:t>
            </a:r>
          </a:p>
          <a:p>
            <a:r>
              <a:t>Karpathy 也提醒過這是 Decade of Agents 不是 Year of Agents。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收尾回到第一頁那句：你現在有一個網址了。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783080"/>
            <a:ext cx="713232" cy="91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993392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E8590C"/>
                </a:solidFill>
                <a:latin typeface="Helvetica Neue"/>
                <a:ea typeface="Noto Sans TC"/>
              </a:rPr>
              <a:t>UNEXT 見習生職涯沙龍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95728"/>
            <a:ext cx="1036289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5400" b="1">
                <a:solidFill>
                  <a:srgbClr val="1A1A1A"/>
                </a:solidFill>
                <a:latin typeface="Helvetica Neue"/>
                <a:ea typeface="Noto Sans TC"/>
              </a:rPr>
              <a:t>AI 開發實戰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01568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>
                <a:solidFill>
                  <a:srgbClr val="4A4A4A"/>
                </a:solidFill>
                <a:latin typeface="Helvetica Neue"/>
                <a:ea typeface="Noto Sans TC"/>
              </a:rPr>
              <a:t>打造第一個 AI 應用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187952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8A8A85"/>
                </a:solidFill>
                <a:latin typeface="Helvetica Neue"/>
                <a:ea typeface="Noto Sans TC"/>
              </a:rPr>
              <a:t>8/13（四）13:30-17:00 · 蔡子揚 Young</a:t>
            </a:r>
          </a:p>
        </p:txBody>
      </p:sp>
      <p:pic>
        <p:nvPicPr>
          <p:cNvPr id="8" name="Picture 7" descr="qr-repo-un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4462272"/>
            <a:ext cx="1572768" cy="1572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45175" y="5888736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500" b="1">
                <a:solidFill>
                  <a:srgbClr val="C2410C"/>
                </a:solidFill>
                <a:latin typeface="Helvetica Neue"/>
                <a:ea typeface="Noto Sans TC"/>
              </a:rPr>
              <a:t>掃我 → 按 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5175" y="6217920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400" b="0">
                <a:solidFill>
                  <a:srgbClr val="8A8A85"/>
                </a:solidFill>
                <a:latin typeface="Helvetica Neue"/>
                <a:ea typeface="Noto Sans TC"/>
              </a:rPr>
              <a:t>github.com/young-ai-courses/unext-ai-dev-workshop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蔡子揚 Young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91256"/>
            <a:ext cx="2151811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硬體韌體
2009-2015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7651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1427" y="3191256"/>
            <a:ext cx="2151811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全端 · 資料
PM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4679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8455" y="3191256"/>
            <a:ext cx="2151811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產品長
AI 長
副執行長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31707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5483" y="3191256"/>
            <a:ext cx="2151811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AI 產品顧問
AI 獨立開發者
AI 創業者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38928"/>
            <a:ext cx="103628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接過的產業：教育 · 醫療 · 金融 · 製造
我做的事：把想法變成真的能用的產品 —— 從規格到上線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開工前：先確定這兩個帳號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① GitHub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414015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6956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694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程式碼的雲端硬碟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064507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785615"/>
            <a:ext cx="4111599" cy="694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沒有的現在辦，用 Google 登入最快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759451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480559"/>
            <a:ext cx="4111599" cy="694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之後 Codex 會直接幫你操作它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② ChatGPT ＋ 桌面版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414015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6956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694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Codex 就住在桌面版裡面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064507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785615"/>
            <a:ext cx="4111599" cy="694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chatgpt.com/download 下載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759451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480559"/>
            <a:ext cx="4111599" cy="694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建議付費方案，額度比較不會中途卡住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88152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>
                <a:solidFill>
                  <a:srgbClr val="C2410C"/>
                </a:solidFill>
                <a:latin typeface="Helvetica Neue"/>
                <a:ea typeface="Noto Sans TC"/>
              </a:rPr>
              <a:t>其他都不用你辦：Vercel 用 GitHub 帳號登入、node/git/gh/vercel 交給 Codex 裝
唯一還要你自己跑一趟的是 Groq key → console.groq.com（免費 1,000 次／天）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Codex 桌面版：AI 直接改你電腦上的檔案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今天所有事情都在這一個對話框裡發生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5798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228028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213969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chatgpt.com/download 下載 ChatGPT 桌面版（Mac / Windows）並登入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7807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4" y="3000375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85978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左邊選 Codex —— 它跟網頁版的差別是看得到、也改得動你本機的檔案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9816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372046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357987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先按「開啟資料夾」隨便選一個空資料夾（等它幫你下載專案後再切過去）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18253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2144" y="444055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429996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之後每一件事都是：貼一段話 → 看它要做什麼 → 讓它做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138928"/>
            <a:ext cx="10362895" cy="96012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285232"/>
            <a:ext cx="97228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  <a:ea typeface="Noto Sans TC"/>
              </a:rPr>
              <a:t>⚠️ Codex 額度依方案、模型、任務大小而變 —— 一次交辦一件小事最省
快用完時改用較小的模型，或看 usage dashboard；真的用光看 QUICKSTART 的 Plan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Prompt 0：叫 Codex 裝環境 ＋ 拿專案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打開 ChatGPT 桌面版 → 左邊選 Codex → 把下面這段貼進對話框 → 送出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48256"/>
            <a:ext cx="10362895" cy="342900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請幫我把開發環境裝好，並把課程專案拿下來。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我不會用終端機，每一步先講你要做什麼再執行。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1. 檢查：node -v、git -v、gh --version、vercel -v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2. 缺的才裝（自己判斷 macOS 還是 Windows）：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   Node.js LTS、git、gh、Vercel CLI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3. 帶我登入 gh 跟 vercel，要點同意時停下來說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4. fork 並下載這個 repo：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   github.com/young-ai-courses/unext-ai-dev-workshop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5. 印出四個版本號 ＋ 專案放在哪個路徑</a:t>
            </a:r>
          </a:p>
          <a:p>
            <a:pPr algn="l">
              <a:lnSpc>
                <a:spcPct val="118000"/>
              </a:lnSpc>
            </a:pPr>
            <a:r>
              <a:rPr sz="1350">
                <a:solidFill>
                  <a:srgbClr val="1A1A1A"/>
                </a:solidFill>
                <a:latin typeface="Menlo"/>
                <a:ea typeface="Noto Sans TC"/>
              </a:rPr>
              <a:t>清單以外的不要裝，需要管理員密碼先問我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48256"/>
            <a:ext cx="82296" cy="3429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8A8A85"/>
                </a:solidFill>
                <a:latin typeface="Helvetica Neue"/>
                <a:ea typeface="Noto Sans TC"/>
              </a:rPr>
              <a:t>它會停下來問你密碼、要你去瀏覽器點同意 —— 那是正常的，照著點
過關條件：四個版本號都印出來，而且它抓得到你的 GitHub 帳號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今天結束，你會有一個網址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44830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2139696"/>
            <a:ext cx="981425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Helvetica Neue"/>
                <a:ea typeface="Noto Sans TC"/>
              </a:rPr>
              <a:t>別人打得開、能操作、真的有 AI 在裡面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24840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2939796"/>
            <a:ext cx="981425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Helvetica Neue"/>
                <a:ea typeface="Noto Sans TC"/>
              </a:rPr>
              <a:t>而且你不會寫一行程式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04850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3739896"/>
            <a:ext cx="981425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Helvetica Neue"/>
                <a:ea typeface="Noto Sans TC"/>
              </a:rPr>
              <a:t>不是投影片、不是截圖、不是「回家再做」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484860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4539996"/>
            <a:ext cx="981425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1A1A1A"/>
                </a:solidFill>
                <a:latin typeface="Helvetica Neue"/>
                <a:ea typeface="Noto Sans TC"/>
              </a:rPr>
              <a:t>是一個現在就能傳給朋友的網址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>
                <a:solidFill>
                  <a:srgbClr val="C2410C"/>
                </a:solidFill>
                <a:latin typeface="Helvetica Neue"/>
                <a:ea typeface="Noto Sans TC"/>
              </a:rPr>
              <a:t>我先打開我做的那個給你們看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今天會用到 GitHub，先講四個字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39696"/>
          <a:ext cx="10332720" cy="3017515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03120"/>
                <a:gridCol w="8229600"/>
              </a:tblGrid>
              <a:tr h="603503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這個字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白話講就是</a:t>
                      </a:r>
                    </a:p>
                  </a:txBody>
                  <a:tcPr marL="201168" marR="201168" marT="36576" marB="36576" anchor="ctr">
                    <a:solidFill>
                      <a:srgbClr val="C2410C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repo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一個專案的資料夾 —— 今天的課程資料就放在一個 repo 裡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fork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按一下，把那個資料夾複製一份，變成你的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PR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AI 改完不會直接動你的東西，先放進「等你同意」的清單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push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你改完送上去 —— 一送上去，你的網站就自動重新上線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32704"/>
            <a:ext cx="103628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課程 repo：github.com/young-ai-courses/unext-ai-dev-workshop
裡面有：QUICKSTART（上線步驟）· 11 支 prompt · 卡住看 troubleshooting
你不必自己按 Fork —— 剛剛那支 Prompt 0 就是叫 Codex 幫你 fork 跟下載</a:t>
            </a:r>
          </a:p>
        </p:txBody>
      </p:sp>
      <p:pic>
        <p:nvPicPr>
          <p:cNvPr id="7" name="Picture 6" descr="qr-repo-u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210312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59975" y="358444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>
                <a:solidFill>
                  <a:srgbClr val="C2410C"/>
                </a:solidFill>
                <a:latin typeface="Helvetica Neue"/>
                <a:ea typeface="Noto Sans TC"/>
              </a:rPr>
              <a:t>掃我看內容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AI 寫 code 這件事，走過三個階段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59152"/>
          <a:ext cx="10332720" cy="285292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11680"/>
                <a:gridCol w="2286000"/>
                <a:gridCol w="2651760"/>
                <a:gridCol w="338328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/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2021 自動補全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2023 對話生成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2025 交辦執行</a:t>
                      </a:r>
                    </a:p>
                  </a:txBody>
                  <a:tcPr marL="201168" marR="201168" marT="36576" marB="36576" anchor="ctr">
                    <a:solidFill>
                      <a:srgbClr val="C2410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你做什麼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打字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問「怎麼寫」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說「我要什麼」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AI 做什麼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猜你下一行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給你一段，你貼回去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自己讀專案、改檔、開 PR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你的角色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打字的人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組裝的人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需求方＋驗收方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Codex · Claude Code · Cursor 都在第三階段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所以瓶頸換位置了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以前的瓶頸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8480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你會不會寫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0228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看得懂語法嗎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35652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記得住 API 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現在的瓶頸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8480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你到底要什麼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110228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看不看得出它做錯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835652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0">
                <a:solidFill>
                  <a:srgbClr val="1A1A1A"/>
                </a:solidFill>
                <a:latin typeface="Helvetica Neue"/>
                <a:ea typeface="Noto Sans TC"/>
              </a:rPr>
              <a:t>說不說得清楚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「需求講不清」比 AI 早了五十年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04872"/>
          <a:ext cx="10332720" cy="285292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468880"/>
                <a:gridCol w="3931920"/>
                <a:gridCol w="393192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年代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解法</a:t>
                      </a:r>
                    </a:p>
                  </a:txBody>
                  <a:tcPr marL="201168" marR="201168" marT="36576" marB="36576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為什麼還是會出事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1970s 瀑布式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先寫超厚規格書，簽核才開工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寫的時候還不知道要什麼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2000s 敏捷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不寫厚規格，兩週一版邊做邊修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靠「人的常識相通」補洞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2025 SDD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規格是唯一真相，code 是它的產物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← 我們現在在這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敏捷能省規格，是因為人有常識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你跟工程師說「做登入頁」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8480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他自己就知道要有密碼欄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0228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要遮起來、打錯要提示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35652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不能把密碼印進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你跟 AI 說「做登入頁」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8480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它給你統計上最常見的做法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110228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＋一堆你沒要的東西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835652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1A1A1A"/>
                </a:solidFill>
                <a:latin typeface="Helvetica Neue"/>
                <a:ea typeface="Noto Sans TC"/>
              </a:rPr>
              <a:t>＋漏掉你以為理所當然的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那些沒人寫在規格上的事，工程師自己補了；AI 不會 —— 它只會猜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SDD 一句話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96896"/>
            <a:ext cx="10362895" cy="1737360"/>
          </a:xfrm>
          <a:prstGeom prst="roundRect">
            <a:avLst>
              <a:gd name="adj" fmla="val 14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54864" bIns="54864"/>
          <a:lstStyle/>
          <a:p>
            <a:pPr algn="ctr">
              <a:lnSpc>
                <a:spcPct val="122000"/>
              </a:lnSpc>
            </a:pPr>
            <a:r>
              <a:rPr sz="3400" b="1">
                <a:solidFill>
                  <a:srgbClr val="1A1A1A"/>
                </a:solidFill>
                <a:latin typeface="Helvetica Neue"/>
                <a:ea typeface="Noto Sans TC"/>
              </a:rPr>
              <a:t>規格是你唯一真的要親手 review 的東西
code 是它的產物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96896"/>
            <a:ext cx="100584" cy="17373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>
                <a:solidFill>
                  <a:srgbClr val="4A4A4A"/>
                </a:solidFill>
                <a:latin typeface="Helvetica Neue"/>
                <a:ea typeface="Noto Sans TC"/>
              </a:rPr>
              <a:t>code 壞了可以重新生成一次
規格錯了，生成幾次都是錯的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所以 PRD 怎麼寫？你不用學會寫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6412"/>
            <a:ext cx="306415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1A1A1A"/>
                </a:solidFill>
                <a:latin typeface="Helvetica Neue"/>
                <a:ea typeface="Noto Sans TC"/>
              </a:rPr>
              <a:t>① 許願
一句白話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994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63770" y="3296412"/>
            <a:ext cx="306415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1A1A1A"/>
                </a:solidFill>
                <a:latin typeface="Helvetica Neue"/>
                <a:ea typeface="Noto Sans TC"/>
              </a:rPr>
              <a:t>② 召喚訪談員
它問你 6 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19364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13140" y="3296412"/>
            <a:ext cx="306415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1A1A1A"/>
                </a:solidFill>
                <a:latin typeface="Helvetica Neue"/>
                <a:ea typeface="Noto Sans TC"/>
              </a:rPr>
              <a:t>③ 你 review
← 技術活在這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38928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壞消息：你不知道要寫什麼（第一次寫 PRD 的人都不知道）
好消息：你不用知道 —— LLM 知道要問什麼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🔑 這支 prompt 是今天最重要的工具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開 ChatGPT 或 Claude 的網頁版，開一個新對話貼進去（不是 Codex）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48256"/>
            <a:ext cx="10362895" cy="365760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你是資深產品經理，把外行人模糊的願望，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問成工程師做得出來的需求單。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我的願望：「＿＿＿＿＿」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硬限制：不會寫程式／只有 3.5 小時／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　　　　只有一個輸入框＋一次 AI 呼叫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規則：一次只問一題，最多 6 題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　　　只問使用者層面，不問技術問題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　　　我說「不知道」就給我 2-3 個選項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1A1A1A"/>
                </a:solidFill>
                <a:latin typeface="Menlo"/>
                <a:ea typeface="Noto Sans TC"/>
              </a:rPr>
              <a:t>問完產出 PRD，要有「做得完 vs 做不完」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48256"/>
            <a:ext cx="82296" cy="36576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8A8A85"/>
                </a:solidFill>
                <a:latin typeface="Helvetica Neue"/>
                <a:ea typeface="Noto Sans TC"/>
              </a:rPr>
              <a:t>全文（含 PRD 完整格式）在 repo → docs/02-prompts.md 的 Prompt 1，複製就好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它給你 PRD 之後：逐條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" y="2414015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615184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A 有沒有搞懂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218688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是我要的東西嗎
有沒有自己加東西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2139696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97882" y="2414015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7882" y="2615184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B 夠不夠具體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882" y="3218688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「他做 X → 看到 Y」
沒有無法打勾的形容詞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5876" y="2139696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3620" y="2414015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620" y="2615184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C AI 做什麼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0" y="3218688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輸入、輸出格式
不確定的怎麼處理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42231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2144" y="4416551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4617719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D 做不完的呢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221223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有沒有誠實切開
做不完的有寫下來嗎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0138" y="4142231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7882" y="4416551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7882" y="4617719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E 有沒有踩線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882" y="5221223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個資 · 金流 · 責任
key 有沒有進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5876" y="4142231"/>
            <a:ext cx="3271418" cy="1728216"/>
          </a:xfrm>
          <a:prstGeom prst="roundRect">
            <a:avLst>
              <a:gd name="adj" fmla="val 8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3620" y="4416551"/>
            <a:ext cx="420624" cy="685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3620" y="4617719"/>
            <a:ext cx="279593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F 能不能打勾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620" y="5221223"/>
            <a:ext cx="279593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三條驗收條件
當場打得勾或打得叉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最容易漏的是 D：它不會主動說「做不完」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39115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2139696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Helvetica Neue"/>
                <a:ea typeface="Noto Sans TC"/>
              </a:rPr>
              <a:t>你說要五個功能 → 它五個都寫進 PRD，都寫得很可行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076956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2825496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Helvetica Neue"/>
                <a:ea typeface="Noto Sans TC"/>
              </a:rPr>
              <a:t>因為它不知道你只有 3.5 小時、不會寫程式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所以你要主動問一句：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60520"/>
            <a:ext cx="10362895" cy="123444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343400"/>
            <a:ext cx="963137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「我只有 3.5 小時、不會寫程式、只有一個輸入框加一次 AI 呼叫。
　重新切一次：今天做得完的一組，做不完的另外列清單」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A4A4A"/>
                </a:solidFill>
                <a:latin typeface="Helvetica Neue"/>
                <a:ea typeface="Noto Sans TC"/>
              </a:rPr>
              <a:t>做不完的不要刪掉 —— demo 時你可以說「這版先做到 X，接下來長 Y」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👆 動手：25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57984"/>
            <a:ext cx="10362895" cy="47244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144" y="2202180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2139696"/>
            <a:ext cx="8625535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想一件你每週都要重複做、很煩的事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21864"/>
            <a:ext cx="10362895" cy="47244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2766059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703576"/>
            <a:ext cx="8625535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開 ChatGPT / Claude 新對話 → 貼訪談員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85744"/>
            <a:ext cx="10362895" cy="47244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3329940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267456"/>
            <a:ext cx="8625535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它問你 6 題，你老實答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9623"/>
            <a:ext cx="10362895" cy="47244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144" y="3893819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831335"/>
            <a:ext cx="8625535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拿到 PRD → 用 A-F 六格逐條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13504"/>
            <a:ext cx="10362895" cy="47244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2144" y="4457700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4395216"/>
            <a:ext cx="8625535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不對的地方叫它改（一次只講一節）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977384"/>
            <a:ext cx="10362895" cy="47244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2144" y="5021580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" y="4959096"/>
            <a:ext cx="8625535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存成你 repo 的 SPEC.md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8A8A85"/>
                </a:solidFill>
                <a:latin typeface="Helvetica Neue"/>
                <a:ea typeface="Noto Sans TC"/>
              </a:rPr>
              <a:t>腦袋空白的人舉手 → 我給你暖身 prompt（repo 的 Prompt 2）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接下來這條線，全自動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SPEC.md
你 review 過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10246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4022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Codex
改 code
開 PR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99868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93644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GitHub
你 merge
CI 檢查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89490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83266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Vercel
自動部署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79112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72888" y="3296412"/>
            <a:ext cx="160440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1A1A1A"/>
                </a:solidFill>
                <a:latin typeface="Helvetica Neue"/>
                <a:ea typeface="Noto Sans TC"/>
              </a:rPr>
              <a:t>你的網址
別人打得開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你只做兩個動作：把 SPEC 給 Codex、按 merge
剩下每一步都是自動發生的 —— 這叫 CI/CD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👆 動手：30 分鐘，讓它活著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貼在同一個地方：ChatGPT 桌面版 → Codex → 對話框 → 送出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48256"/>
            <a:ext cx="10362895" cy="342900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請幫我把這個專案部署上線。我不會用終端機，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每一步先講你要做什麼，再執行。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1. 進到 starter-kit 資料夾再裝套件、再部署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   一定要在 starter-kit 裡面部署，站在最外層會「成功」但打開是 404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2. 部署到 Vercel production；問到專案根目錄要選哪個，選 starter-kit，其餘用預設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3. 要加 GROQ_API_KEY 的時候停下來告訴我，我自己去 Vercel 貼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   不要問我 key、不要把它寫進任何檔案或印出來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4. 我說加好了，你再部署一次 production 讓它生效</a:t>
            </a:r>
          </a:p>
          <a:p>
            <a:pPr algn="l">
              <a:lnSpc>
                <a:spcPct val="118000"/>
              </a:lnSpc>
            </a:pPr>
            <a:r>
              <a:rPr sz="1500">
                <a:solidFill>
                  <a:srgbClr val="1A1A1A"/>
                </a:solidFill>
                <a:latin typeface="Menlo"/>
                <a:ea typeface="Noto Sans TC"/>
              </a:rPr>
              <a:t>5. 把網址給我，並確認打開不是 404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48256"/>
            <a:ext cx="82296" cy="3429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8A8A85"/>
                </a:solidFill>
                <a:latin typeface="Helvetica Neue"/>
                <a:ea typeface="Noto Sans TC"/>
              </a:rPr>
              <a:t>key 由你自己貼進 Vercel，不經過對話 —— 這是今天唯一一件不能外包的事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把 SPEC 交給 Codex 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規格是你寫的，動手的是它 —— 你只負責看它做對沒有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5798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228028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213969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在 Codex 貼上你 review 過的 SPEC，加一句「先複述你的理解，等我說開始」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7807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4" y="3000375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85978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看它複述得對不對 —— 不對就先講清楚，別讓它開工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98164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372046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357987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它改完會給你 diff（哪幾個檔、改了什麼）→ 你看過再接受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18253"/>
            <a:ext cx="10362895" cy="62865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2144" y="4440554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4299966"/>
            <a:ext cx="862553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接受後 push → Vercel 自動重新部署，30 秒後重新整理你的網址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你做的東西，長這樣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橘色是你的（改得動）· 灰色是租來的服務（只能呼叫）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95728"/>
            <a:ext cx="2788920" cy="1188720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 w="1778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23744"/>
            <a:ext cx="2606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1A1A1A"/>
                </a:solidFill>
                <a:latin typeface="Helvetica Neue"/>
                <a:ea typeface="Noto Sans TC"/>
              </a:rPr>
              <a:t>① 你的電腦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52928"/>
            <a:ext cx="26060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Codex 改 code
vercel CLI 部署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22191" y="2871216"/>
            <a:ext cx="292608" cy="237744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24528" y="2395728"/>
            <a:ext cx="2788920" cy="1188720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 w="1778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2523744"/>
            <a:ext cx="2606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1A1A1A"/>
                </a:solidFill>
                <a:latin typeface="Helvetica Neue"/>
                <a:ea typeface="Noto Sans TC"/>
              </a:rPr>
              <a:t>②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852928"/>
            <a:ext cx="26060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你的 code 放這
Actions 自動檢查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2871216"/>
            <a:ext cx="292608" cy="237744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34656" y="2395728"/>
            <a:ext cx="3739896" cy="1188720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 w="1778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6096" y="2523744"/>
            <a:ext cx="35570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1A1A1A"/>
                </a:solidFill>
                <a:latin typeface="Helvetica Neue"/>
                <a:ea typeface="Noto Sans TC"/>
              </a:rPr>
              <a:t>③ 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852928"/>
            <a:ext cx="355701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你的網站真的在這裡跑
（畫面 ＋ 一支 AI 入口）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78240" y="3675887"/>
            <a:ext cx="237744" cy="292608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0561320" y="3675887"/>
            <a:ext cx="237744" cy="292608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34656" y="4096512"/>
            <a:ext cx="1783080" cy="1097280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 w="17780">
            <a:solidFill>
              <a:srgbClr val="8A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42245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4A4A4A"/>
                </a:solidFill>
                <a:latin typeface="Helvetica Neue"/>
                <a:ea typeface="Noto Sans TC"/>
              </a:rPr>
              <a:t>④ Groq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455371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AI 在這
（你的 key 在③）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4096512"/>
            <a:ext cx="1783080" cy="1097280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 w="17780">
            <a:solidFill>
              <a:srgbClr val="8A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42245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4A4A4A"/>
                </a:solidFill>
                <a:latin typeface="Helvetica Neue"/>
                <a:ea typeface="Noto Sans TC"/>
              </a:rPr>
              <a:t>⑤ 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455371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資料存這
（RLS 在這擋）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96512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 w="17780">
            <a:solidFill>
              <a:srgbClr val="8A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24528"/>
            <a:ext cx="2606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4A4A4A"/>
                </a:solidFill>
                <a:latin typeface="Helvetica Neue"/>
                <a:ea typeface="Noto Sans TC"/>
              </a:rPr>
              <a:t>使用者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53712"/>
            <a:ext cx="26060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A4A4A"/>
                </a:solidFill>
                <a:latin typeface="Helvetica Neue"/>
                <a:ea typeface="Noto Sans TC"/>
              </a:rPr>
              <a:t>打開你的網址
只看得到③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822191" y="4498848"/>
            <a:ext cx="292608" cy="237744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4041648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C2410C"/>
                </a:solidFill>
                <a:latin typeface="Helvetica Neue"/>
                <a:ea typeface="Noto Sans TC"/>
              </a:rPr>
              <a:t>他按送出 → ③ 拿你的 key
去問 ④，要留紀錄才寫 ⑤
今天這版，他的瀏覽器只打 ③
未來前端若直接接 ⑤，就得靠 RLS 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>
                <a:solidFill>
                  <a:srgbClr val="C2410C"/>
                </a:solidFill>
                <a:latin typeface="Helvetica Neue"/>
                <a:ea typeface="Noto Sans TC"/>
              </a:rPr>
              <a:t>①②③ 是你的，你改得動；④⑤ 是租來的，你只能照它的規則呼叫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想法落在哪一層，就叫 AI 動那一層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你不必知道要改哪個檔 —— 講你想看到什麼就好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39696"/>
          <a:ext cx="10360152" cy="23774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291840"/>
                <a:gridCol w="1737360"/>
                <a:gridCol w="5330952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你的想法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落在</a:t>
                      </a:r>
                    </a:p>
                  </a:txBody>
                  <a:tcPr marL="201168" marR="201168" marT="36576" marB="36576" anchor="ctr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Neue"/>
                          <a:ea typeface="Noto Sans TC"/>
                        </a:rPr>
                        <a:t>你就這樣跟 Codex 講</a:t>
                      </a:r>
                    </a:p>
                  </a:txBody>
                  <a:tcPr marL="201168" marR="201168" marT="36576" marB="36576" anchor="ctr">
                    <a:solidFill>
                      <a:srgbClr val="5A5A5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畫面上的字、顏色、按鈕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① 頁面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「送出按鈕的字改成『幫我整理』」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AI 回答的內容或格式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③ 伺服器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「回答多一欄負責人，沒寫就填未指定」</a:t>
                      </a:r>
                    </a:p>
                  </a:txBody>
                  <a:tcPr marL="201168" marR="201168" marT="36576" marB="36576" anchor="ctr">
                    <a:solidFill>
                      <a:srgbClr val="F1EFE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要記住上次打了什麼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⑤ 資料庫</a:t>
                      </a:r>
                    </a:p>
                  </a:txBody>
                  <a:tcPr marL="201168" marR="201168" marT="36576" marB="36576" anchor="ctr">
                    <a:solidFill>
                      <a:srgbClr val="FD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  <a:latin typeface="Helvetica Neue"/>
                          <a:ea typeface="Noto Sans TC"/>
                        </a:rPr>
                        <a:t>「我要記住上次打的，該加什麼？」</a:t>
                      </a:r>
                    </a:p>
                  </a:txBody>
                  <a:tcPr marL="201168" marR="20116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5212080"/>
            <a:ext cx="10362895" cy="89611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5358384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  <a:ea typeface="Noto Sans TC"/>
              </a:rPr>
              <a:t>說得出「從什麼變成什麼」→ 直接講，這叫具體
不知道該動哪裡 → 先問路：「我要 ___，該加什麼？」，這叫抽象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那個 AI 在你的網站哪裡？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6412"/>
            <a:ext cx="2151811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使用者
打字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7651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1427" y="3296412"/>
            <a:ext cx="2151811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你的畫面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4679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8455" y="3296412"/>
            <a:ext cx="2151811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你的伺服器
key 只在這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31707" y="3858768"/>
            <a:ext cx="402336" cy="29260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5483" y="3296412"/>
            <a:ext cx="2151811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1A1A1A"/>
                </a:solidFill>
                <a:latin typeface="Helvetica Neue"/>
                <a:ea typeface="Noto Sans TC"/>
              </a:rPr>
              <a:t>Groq
AI 在這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38928"/>
            <a:ext cx="1036289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4A4A4A"/>
                </a:solidFill>
                <a:latin typeface="Helvetica Neue"/>
                <a:ea typeface="Noto Sans TC"/>
              </a:rPr>
              <a:t>為什麼 key 不能放前端：任何人打開瀏覽器的原始碼就看得到它
所以前端只跟「你自己的伺服器」說話，由伺服器拿著 key 去問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換一個 AI＝改一段話（不用改程式邏輯）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48256"/>
            <a:ext cx="10362895" cy="3383280"/>
          </a:xfrm>
          <a:prstGeom prst="roundRect">
            <a:avLst>
              <a:gd name="adj" fmla="val 4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219456" tIns="164592" bIns="128016"/>
          <a:lstStyle/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跟 Codex 說：把 AI 的角色設定換成這段 —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你是一位嚴謹的會議秘書。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把使用者貼進來的筆記整理成三類：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待辦事項 / 已做的決議 / 需要再確認的事。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用表格輸出，欄位是「類別 | 內容 | 負責人」。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沒寫負責人的填「未指定」，不要自己猜是誰。</a:t>
            </a:r>
          </a:p>
          <a:p>
            <a:pPr algn="l">
              <a:lnSpc>
                <a:spcPct val="118000"/>
              </a:lnSpc>
            </a:pPr>
            <a:r>
              <a:rPr sz="1700">
                <a:solidFill>
                  <a:srgbClr val="1A1A1A"/>
                </a:solidFill>
                <a:latin typeface="Menlo"/>
                <a:ea typeface="Noto Sans TC"/>
              </a:rPr>
              <a:t>不確定的放進「需要再確認」，不要編。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48256"/>
            <a:ext cx="82296" cy="33832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C2410C"/>
                </a:solidFill>
                <a:latin typeface="Helvetica Neue"/>
                <a:ea typeface="Noto Sans TC"/>
              </a:rPr>
              <a:t>「不要自己猜」「不要編」這兩句很重要 —— 不寫它就會編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改東西的兩條紀律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5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① 一次只講一件事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384803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✗「幫我做一個會議整理器」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0228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✗「介面弄漂亮一點」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35652"/>
            <a:ext cx="137160" cy="137160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✓「把標題改成 X，提示改成 Y」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139696"/>
            <a:ext cx="4952847" cy="6949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② 壞了先退回，不要接著補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926079"/>
            <a:ext cx="4952847" cy="2505456"/>
          </a:xfrm>
          <a:prstGeom prst="roundRect">
            <a:avLst>
              <a:gd name="adj" fmla="val 10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8767" y="3384803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1375" y="3090672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✗「幫我修好」→ 它會一直加東西，越補越難救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4110228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375" y="3816096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✓「先找出上一個能動的版本，說明要退哪些檔，等我確認」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835652"/>
            <a:ext cx="137160" cy="137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4541520"/>
            <a:ext cx="4111599" cy="725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　　退回去之後，把需求重講一次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25312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>
                <a:solidFill>
                  <a:srgbClr val="C2410C"/>
                </a:solidFill>
                <a:latin typeface="Helvetica Neue"/>
                <a:ea typeface="Noto Sans TC"/>
              </a:rPr>
              <a:t>退回去不算失敗 —— 版本控制的整個意義，就是讓你敢改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「那我打的東西存哪？」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307335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2139696"/>
            <a:ext cx="9814255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今天沒有資料庫 —— 這是刻意的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825495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2657855"/>
            <a:ext cx="9814255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「輸入 → AI → 看結果」這形狀已經有用，今天做得完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3343655"/>
            <a:ext cx="182880" cy="182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3176015"/>
            <a:ext cx="9814255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Helvetica Neue"/>
                <a:ea typeface="Noto Sans TC"/>
              </a:rPr>
              <a:t>加資料庫要裝服務、接環境變數，至少 40 分鐘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977639"/>
            <a:ext cx="10362895" cy="1572768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187952"/>
            <a:ext cx="953993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1">
                <a:solidFill>
                  <a:srgbClr val="1A1A1A"/>
                </a:solidFill>
                <a:latin typeface="Helvetica Neue"/>
                <a:ea typeface="Noto Sans TC"/>
              </a:rPr>
              <a:t>要存東西的時候，用 Supabase
你不用先學它 —— 跟 Codex 說：「我要記住上次打的，幫我接 Supabase」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79008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C2410C"/>
                </a:solidFill>
                <a:latin typeface="Helvetica Neue"/>
                <a:ea typeface="Noto Sans TC"/>
              </a:rPr>
              <a:t>⚠️ 唯一要記住的一件事：建完表一定要開 RLS，否則任何人都讀得走你的資料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你剛才做的事，有名字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我用來教學的五層地圖（不是官方標準名詞）—— 你今天走過前三層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39696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2171699"/>
            <a:ext cx="402336" cy="40233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2139696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Prompt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你寫的那些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15768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2747771"/>
            <a:ext cx="402336" cy="40233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715768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Context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你 review 過的 SPEC.md ← 就是這層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39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3323843"/>
            <a:ext cx="402336" cy="40233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291839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Harness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那個綠勾勾 CI ← 也是這層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67911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899915"/>
            <a:ext cx="402336" cy="402336"/>
          </a:xfrm>
          <a:prstGeom prst="ellipse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3867911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5A5A55"/>
                </a:solidFill>
                <a:latin typeface="Helvetica Neue"/>
                <a:ea typeface="Noto Sans TC"/>
              </a:rPr>
              <a:t>Loop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讓系統自己一輪一輪推進（還沒做）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43983"/>
            <a:ext cx="10362895" cy="466344"/>
          </a:xfrm>
          <a:prstGeom prst="roundRect">
            <a:avLst>
              <a:gd name="adj" fmla="val 22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475988"/>
            <a:ext cx="402336" cy="402336"/>
          </a:xfrm>
          <a:prstGeom prst="ellipse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  <a:ea typeface="Noto Sans T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4443983"/>
            <a:ext cx="9174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5A5A55"/>
                </a:solidFill>
                <a:latin typeface="Helvetica Neue"/>
                <a:ea typeface="Noto Sans TC"/>
              </a:rPr>
              <a:t>Graph Engineering</a:t>
            </a:r>
            <a:r>
              <a:rPr sz="2400" b="0">
                <a:solidFill>
                  <a:srgbClr val="8A8A85"/>
                </a:solidFill>
                <a:latin typeface="Helvetica Neue"/>
                <a:ea typeface="Noto Sans TC"/>
              </a:rPr>
              <a:t>   ｜   </a:t>
            </a:r>
            <a:r>
              <a:rPr sz="2400" b="0">
                <a:solidFill>
                  <a:srgbClr val="4A4A4A"/>
                </a:solidFill>
                <a:latin typeface="Helvetica Neue"/>
                <a:ea typeface="Noto Sans TC"/>
              </a:rPr>
              <a:t>多個 AI 分工協作（還沒做）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084064"/>
            <a:ext cx="10362895" cy="786384"/>
          </a:xfrm>
          <a:prstGeom prst="roundRect">
            <a:avLst>
              <a:gd name="adj" fmla="val 16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FFFFF"/>
                </a:solidFill>
                <a:latin typeface="Helvetica Neue"/>
                <a:ea typeface="Noto Sans TC"/>
              </a:rPr>
              <a:t>❶❷❸ 今天你親手做過了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58368" cy="7772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  <a:ea typeface="Noto Sans TC"/>
              </a:rPr>
              <a:t>上台 2 分鐘，講這三件事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14476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8A8A85"/>
                </a:solidFill>
                <a:latin typeface="Helvetica Neue"/>
                <a:ea typeface="Noto Sans TC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57984"/>
            <a:ext cx="10362895" cy="50292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144" y="2217420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2139696"/>
            <a:ext cx="86255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我原本要花多久做這件事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52344"/>
            <a:ext cx="10362895" cy="50292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2811780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734056"/>
            <a:ext cx="86255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這個東西幫我做掉了哪一段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62895" cy="502920"/>
          </a:xfrm>
          <a:prstGeom prst="roundRect">
            <a:avLst>
              <a:gd name="adj" fmla="val 22000"/>
            </a:avLst>
          </a:prstGeom>
          <a:solidFill>
            <a:srgbClr val="F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3406139"/>
            <a:ext cx="438912" cy="4389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  <a:ea typeface="Noto Sans T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328415"/>
            <a:ext cx="86255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Helvetica Neue"/>
                <a:ea typeface="Noto Sans TC"/>
              </a:rPr>
              <a:t>今天沒做完的部分，接下來會怎麼長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15968"/>
            <a:ext cx="10362895" cy="1627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96313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>
                <a:solidFill>
                  <a:srgbClr val="C2410C"/>
                </a:solidFill>
                <a:latin typeface="Helvetica Neue"/>
                <a:ea typeface="Noto Sans TC"/>
              </a:rPr>
              <a:t>github.com/young-ai-courses/unext-ai-dev-workshop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19472"/>
            <a:ext cx="963137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1A1A1A"/>
                </a:solidFill>
                <a:latin typeface="Helvetica Neue"/>
                <a:ea typeface="Noto Sans TC"/>
              </a:rPr>
              <a:t>QUICKSTART　上線步驟從頭到尾
docs/02-prompts　今天用到的每一支 prompt
docs/03-troubleshooting　卡住了看這裡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